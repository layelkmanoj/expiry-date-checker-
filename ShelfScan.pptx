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C62"/>
    <a:srgbClr val="ABD1C0"/>
    <a:srgbClr val="ECF0A1"/>
    <a:srgbClr val="E4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634" autoAdjust="0"/>
  </p:normalViewPr>
  <p:slideViewPr>
    <p:cSldViewPr snapToGrid="0">
      <p:cViewPr varScale="1">
        <p:scale>
          <a:sx n="75" d="100"/>
          <a:sy n="75" d="100"/>
        </p:scale>
        <p:origin x="97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EL K MANOJ" userId="2514792232d626a6" providerId="LiveId" clId="{C93C3722-D5A8-49FA-8239-AC28E52B13AE}"/>
    <pc:docChg chg="undo custSel modSld sldOrd">
      <pc:chgData name="LAYEL K MANOJ" userId="2514792232d626a6" providerId="LiveId" clId="{C93C3722-D5A8-49FA-8239-AC28E52B13AE}" dt="2026-03-25T09:25:39.874" v="11"/>
      <pc:docMkLst>
        <pc:docMk/>
      </pc:docMkLst>
      <pc:sldChg chg="ord">
        <pc:chgData name="LAYEL K MANOJ" userId="2514792232d626a6" providerId="LiveId" clId="{C93C3722-D5A8-49FA-8239-AC28E52B13AE}" dt="2026-03-25T09:25:39.874" v="11"/>
        <pc:sldMkLst>
          <pc:docMk/>
          <pc:sldMk cId="319981259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5E93C-5AA7-413A-8467-34852E25F1B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F7DB6-EAD8-47C6-9BA8-84942F2AB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0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F7DB6-EAD8-47C6-9BA8-84942F2AB1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65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F7DB6-EAD8-47C6-9BA8-84942F2AB1A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4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4464-4028-9EDD-F89A-6F7AE90D9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D4CF3-7CFC-B184-1E3E-53FDC4004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D52C6-360B-648F-FDF1-CFA0340A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DF3E-973C-4C82-90A7-05B4EE01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7A52F-1CEB-19D2-1294-841D5444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0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B6FB-115A-0F32-F314-636BF798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933E-A111-F388-99EA-A4E85AEDE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E17B-87E5-670F-1798-936A8788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ADA65-869C-5010-0AAC-A7F580E3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9542-D280-59C5-327B-C78E43C3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4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575C-4178-A796-C421-07A4720E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396A3-F3FD-08B7-96A8-B67C6B00B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E3C65-D3AC-0D5E-E77B-7C050909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1DCFE-5B5E-DA57-0DAB-4A24D1DE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058AD-DB8F-BC08-2738-13D63A69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36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339E-AD25-A858-07A4-39E3BC41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594D-B1E1-79A8-3943-2B044CF58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36EB1-5B5C-9BF0-2B2E-503E712C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E5C7B-8F66-8F07-481A-09CF8CE8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68CED-0EE0-72D9-4792-9C07EB68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D1AA2-E06C-351F-3E0F-98BF4DA0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10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57C3-D068-B8BC-1F0B-8912282A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BADA-08A5-5449-B947-53126DFB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93726-B7EB-4D30-1E92-C6AED4D1C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CFD86-4C8B-7F5D-61B3-F9586A04D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A8975-8F04-2B8B-98D0-9C48C76AE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67223-B776-C646-B8FE-FBE056D0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12BAA-DB04-1A0F-258A-06724C96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AFBF7-3CF3-DB7F-F7BC-4CD7BE76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76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A384-31DB-8F32-2A8F-184CB214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AC395-48CE-8003-43F8-BF6B92D8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6EB42-463E-6821-19B8-2B71DB53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B3A0-ABA6-CCB5-C799-5AAA6B4B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3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CBF15-94F0-88D7-EEED-F3D612D7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8EB2C-4297-7AF7-7B9C-8B181862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05E6-DD3D-D4B2-201B-89FBD0B0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66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242A-7C9B-D400-1510-41D3EADE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4922-18AF-A470-4820-C834C43AB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5D5EC-C2D0-39CB-A532-7E7CB8E2C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729CB-FC7C-EF1F-5D6A-4FB88504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1A748-58EF-9E78-DFF4-6B567D41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A8B52-D7EB-D47D-32F6-4A57D76A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70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2BDB-32B3-A99A-28AD-49FFF364D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CD020-353B-C1E3-3439-E89FD27CB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EAEC7-AE85-EE47-DB31-FF0C5C306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149FC-1F8C-273F-A400-5BDEFB78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04953-3A76-F7B6-A148-D78AEDFE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2F31D-1D39-0F88-C45E-F64B0618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6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F7C8-ED02-53FF-6D53-02161C4B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A1FE9-4B37-9908-0A56-A8E646489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9A70B-E141-4C38-6D75-53D5734C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B2DBF-2D1C-AF69-17E3-38B5CA40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DB0D-445F-44A7-6C2F-6DBEABC4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2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F8D25-5F41-341D-8541-91D1A9459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164C8-958B-67BD-D4BE-FF90AD715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29B4-343E-E830-2775-7330769A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EFC8A-22B9-1D7C-1EFD-8E6A2C6F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9FC46-EE15-375E-2080-48DD5232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2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AB762-B890-2199-9253-C733AB84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4FD62-62F1-78B6-CEB9-1F5DE3E70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931DF-3CE8-5224-EF12-3F11809DC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0AF41-2CAF-433C-92D0-7584EF929B4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BA650-0273-304B-0790-7E0409A30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5698D-C1B1-4F0D-1D74-0CE50BEB6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2E310-C9C8-4C25-83A4-E938F7BC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1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grocery store&#10;&#10;AI-generated content may be incorrect.">
            <a:extLst>
              <a:ext uri="{FF2B5EF4-FFF2-40B4-BE49-F238E27FC236}">
                <a16:creationId xmlns:a16="http://schemas.microsoft.com/office/drawing/2014/main" id="{5316BA62-6F39-C70C-78D9-41175F7D4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59" y="0"/>
            <a:ext cx="10080043" cy="6858000"/>
          </a:xfrm>
          <a:prstGeom prst="rect">
            <a:avLst/>
          </a:prstGeom>
        </p:spPr>
      </p:pic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08AC1936-22D0-48CF-AD06-549DA38469C0}"/>
              </a:ext>
            </a:extLst>
          </p:cNvPr>
          <p:cNvSpPr/>
          <p:nvPr/>
        </p:nvSpPr>
        <p:spPr>
          <a:xfrm rot="5400000">
            <a:off x="5349239" y="15239"/>
            <a:ext cx="6858002" cy="6827519"/>
          </a:xfrm>
          <a:prstGeom prst="flowChartDocument">
            <a:avLst/>
          </a:prstGeom>
          <a:solidFill>
            <a:srgbClr val="2E8C6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3614B-05E3-95FF-C769-62513FA43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0454" y="3068002"/>
            <a:ext cx="8573729" cy="2387600"/>
          </a:xfrm>
        </p:spPr>
        <p:txBody>
          <a:bodyPr>
            <a:noAutofit/>
          </a:bodyPr>
          <a:lstStyle/>
          <a:p>
            <a:pPr algn="r"/>
            <a:r>
              <a:rPr lang="en-US" sz="48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ShelfScan</a:t>
            </a:r>
            <a: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  <a:t>:</a:t>
            </a:r>
            <a:b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</a:br>
            <a: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  <a:t>Revolutionizing </a:t>
            </a:r>
            <a:b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</a:br>
            <a: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  <a:t>Expiry Tracking and </a:t>
            </a:r>
            <a:b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</a:br>
            <a: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  <a:t>Medication </a:t>
            </a:r>
            <a:b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</a:br>
            <a:r>
              <a:rPr lang="en-US" sz="4800" b="1" dirty="0">
                <a:solidFill>
                  <a:schemeClr val="bg1"/>
                </a:solidFill>
                <a:latin typeface="Candara" panose="020E0502030303020204" pitchFamily="34" charset="0"/>
              </a:rPr>
              <a:t>Management</a:t>
            </a:r>
            <a:endParaRPr lang="en-IN" sz="4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C1692-770A-22F5-D7EB-D12DFA35B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7599" y="6512904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Innovative Solutions for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Heathcare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Efficiency</a:t>
            </a:r>
            <a:endParaRPr lang="en-IN" sz="20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pic>
        <p:nvPicPr>
          <p:cNvPr id="11" name="Graphic 10" descr="Cheers outline">
            <a:extLst>
              <a:ext uri="{FF2B5EF4-FFF2-40B4-BE49-F238E27FC236}">
                <a16:creationId xmlns:a16="http://schemas.microsoft.com/office/drawing/2014/main" id="{5B29528C-0CA1-D497-1F3F-10E77931F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9960" y="16240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D74F81-1CFD-A2AD-E88B-77262477E712}"/>
              </a:ext>
            </a:extLst>
          </p:cNvPr>
          <p:cNvSpPr txBox="1"/>
          <p:nvPr/>
        </p:nvSpPr>
        <p:spPr>
          <a:xfrm>
            <a:off x="10391369" y="162400"/>
            <a:ext cx="1463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shelfscan</a:t>
            </a:r>
            <a:endParaRPr lang="en-IN" sz="1200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6321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tore with shelves of food&#10;&#10;AI-generated content may be incorrect.">
            <a:extLst>
              <a:ext uri="{FF2B5EF4-FFF2-40B4-BE49-F238E27FC236}">
                <a16:creationId xmlns:a16="http://schemas.microsoft.com/office/drawing/2014/main" id="{C3274CB8-4C78-05DC-D59D-F6AA9241C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>
          <a:xfrm>
            <a:off x="-132079" y="10"/>
            <a:ext cx="902207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88C75-C3A9-FDA8-5371-0AF3D06F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7018" y="72517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Contents</a:t>
            </a:r>
            <a:endParaRPr lang="en-IN" sz="4000" b="1" dirty="0">
              <a:solidFill>
                <a:schemeClr val="accent3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8D3CF0-9936-95B6-7B3D-77293FFE7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3179" y="1972429"/>
            <a:ext cx="5074919" cy="37427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Indroduction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 to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ShelfScan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Core Features of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ShelfScan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Dual-Purpose Tracking Capabilities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Safety and Waste Reduction Features</a:t>
            </a:r>
          </a:p>
        </p:txBody>
      </p:sp>
    </p:spTree>
    <p:extLst>
      <p:ext uri="{BB962C8B-B14F-4D97-AF65-F5344CB8AC3E}">
        <p14:creationId xmlns:p14="http://schemas.microsoft.com/office/powerpoint/2010/main" val="11959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Shelves of medicine in a pharmacy&#10;&#10;AI-generated content may be incorrect.">
            <a:extLst>
              <a:ext uri="{FF2B5EF4-FFF2-40B4-BE49-F238E27FC236}">
                <a16:creationId xmlns:a16="http://schemas.microsoft.com/office/drawing/2014/main" id="{FD442E98-A03F-3B08-E7E2-EBC6AF00E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49A37D41-DF4A-4999-58BE-8BB75C000019}"/>
              </a:ext>
            </a:extLst>
          </p:cNvPr>
          <p:cNvSpPr/>
          <p:nvPr/>
        </p:nvSpPr>
        <p:spPr>
          <a:xfrm rot="19341454">
            <a:off x="2976934" y="1944350"/>
            <a:ext cx="10175259" cy="7737670"/>
          </a:xfrm>
          <a:prstGeom prst="flowChartManualInput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33A2F-D5FD-D6D3-EC2B-8C5E85171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166" y="3723825"/>
            <a:ext cx="10515600" cy="1325563"/>
          </a:xfrm>
        </p:spPr>
        <p:txBody>
          <a:bodyPr>
            <a:noAutofit/>
          </a:bodyPr>
          <a:lstStyle/>
          <a:p>
            <a:pPr algn="r"/>
            <a:r>
              <a:rPr lang="en-US" sz="6600" b="1" dirty="0">
                <a:solidFill>
                  <a:schemeClr val="bg1"/>
                </a:solidFill>
                <a:latin typeface="Candara" panose="020E0502030303020204" pitchFamily="34" charset="0"/>
              </a:rPr>
              <a:t>Introduction to </a:t>
            </a:r>
            <a:br>
              <a:rPr lang="en-US" sz="6600" b="1" dirty="0">
                <a:solidFill>
                  <a:schemeClr val="bg1"/>
                </a:solidFill>
                <a:latin typeface="Candara" panose="020E0502030303020204" pitchFamily="34" charset="0"/>
              </a:rPr>
            </a:br>
            <a:r>
              <a:rPr lang="en-US" sz="66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ShelfScan</a:t>
            </a:r>
            <a:endParaRPr lang="en-IN" sz="66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0FD31-9EB4-2BBF-AAD3-86CCDCD03B40}"/>
              </a:ext>
            </a:extLst>
          </p:cNvPr>
          <p:cNvSpPr txBox="1"/>
          <p:nvPr/>
        </p:nvSpPr>
        <p:spPr>
          <a:xfrm>
            <a:off x="7370360" y="6224934"/>
            <a:ext cx="723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Innovative Solutions for </a:t>
            </a:r>
            <a:r>
              <a:rPr lang="en-US" sz="18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Heathcare</a:t>
            </a:r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 Efficiency</a:t>
            </a:r>
            <a:endParaRPr lang="en-IN" sz="1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87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CA75-7EA6-5079-4CD5-0D874B7E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7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Overview of </a:t>
            </a:r>
            <a:r>
              <a:rPr lang="en-IN" b="1" dirty="0" err="1">
                <a:solidFill>
                  <a:schemeClr val="accent3">
                    <a:lumMod val="75000"/>
                  </a:schemeClr>
                </a:solidFill>
              </a:rPr>
              <a:t>ShelfScan</a:t>
            </a: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41A95C-806A-73A8-BC59-B0EE22249346}"/>
              </a:ext>
            </a:extLst>
          </p:cNvPr>
          <p:cNvSpPr/>
          <p:nvPr/>
        </p:nvSpPr>
        <p:spPr>
          <a:xfrm>
            <a:off x="8414793" y="1576408"/>
            <a:ext cx="3450444" cy="336797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CC14D-2BD3-252C-1055-61BB05537AA8}"/>
              </a:ext>
            </a:extLst>
          </p:cNvPr>
          <p:cNvSpPr txBox="1"/>
          <p:nvPr/>
        </p:nvSpPr>
        <p:spPr>
          <a:xfrm>
            <a:off x="454306" y="1244540"/>
            <a:ext cx="752354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Definition and Purpose</a:t>
            </a:r>
          </a:p>
          <a:p>
            <a:pPr algn="just"/>
            <a:r>
              <a:rPr lang="en-US" b="1" dirty="0" err="1">
                <a:latin typeface="Amasis MT Pro Light" panose="02040304050005020304" pitchFamily="18" charset="0"/>
              </a:rPr>
              <a:t>ShelfScan</a:t>
            </a:r>
            <a:r>
              <a:rPr lang="en-US" b="1" dirty="0">
                <a:latin typeface="Amasis MT Pro Light" panose="02040304050005020304" pitchFamily="18" charset="0"/>
              </a:rPr>
              <a:t> empowers users by simplifying expiry tracking and medication management, ensuring safety and efficiency in health practices through innovative technology solutions. Embrace the future of smart care!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B75EA-91DD-9017-A601-A4188D711C3E}"/>
              </a:ext>
            </a:extLst>
          </p:cNvPr>
          <p:cNvSpPr txBox="1"/>
          <p:nvPr/>
        </p:nvSpPr>
        <p:spPr>
          <a:xfrm>
            <a:off x="454306" y="3028137"/>
            <a:ext cx="74049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Key Features and Innovations</a:t>
            </a:r>
          </a:p>
          <a:p>
            <a:pPr algn="just"/>
            <a:r>
              <a:rPr lang="en-US" b="1" dirty="0" err="1">
                <a:latin typeface="Amasis MT Pro Light" panose="02040304050005020304" pitchFamily="18" charset="0"/>
              </a:rPr>
              <a:t>ShelfScan</a:t>
            </a:r>
            <a:r>
              <a:rPr lang="en-US" b="1" dirty="0">
                <a:latin typeface="Amasis MT Pro Light" panose="02040304050005020304" pitchFamily="18" charset="0"/>
              </a:rPr>
              <a:t> empowers users with real-time expiry tracking and seamless medication management, transforming healthcare experiences through innovative technology and enhancing patient safety</a:t>
            </a:r>
            <a:r>
              <a:rPr lang="en-US" dirty="0">
                <a:latin typeface="Amasis MT Pro Light" panose="02040304050005020304" pitchFamily="18" charset="0"/>
              </a:rPr>
              <a:t>.</a:t>
            </a:r>
            <a:endParaRPr lang="en-IN" dirty="0">
              <a:latin typeface="Amasis MT Pro Light" panose="020403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00983-CA62-34E3-FEFD-7829E6CC96AD}"/>
              </a:ext>
            </a:extLst>
          </p:cNvPr>
          <p:cNvSpPr txBox="1"/>
          <p:nvPr/>
        </p:nvSpPr>
        <p:spPr>
          <a:xfrm>
            <a:off x="454306" y="4944379"/>
            <a:ext cx="74049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Target Audience</a:t>
            </a:r>
          </a:p>
          <a:p>
            <a:r>
              <a:rPr lang="en-US" b="1" dirty="0">
                <a:latin typeface="Amasis MT Pro Light" panose="02040304050005020304" pitchFamily="18" charset="0"/>
              </a:rPr>
              <a:t>Discover how </a:t>
            </a:r>
            <a:r>
              <a:rPr lang="en-US" b="1" dirty="0" err="1">
                <a:latin typeface="Amasis MT Pro Light" panose="02040304050005020304" pitchFamily="18" charset="0"/>
              </a:rPr>
              <a:t>ShelfScan</a:t>
            </a:r>
            <a:r>
              <a:rPr lang="en-US" b="1" dirty="0">
                <a:latin typeface="Amasis MT Pro Light" panose="02040304050005020304" pitchFamily="18" charset="0"/>
              </a:rPr>
              <a:t> empowers tech-savvy individuals to transform medication management, enhancing safety and efficiency through innovative software solutions that inspire proactive health choices.</a:t>
            </a:r>
            <a:endParaRPr lang="en-IN" b="1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DB35A-31CE-66F9-18B7-FB8BB1F32DA6}"/>
              </a:ext>
            </a:extLst>
          </p:cNvPr>
          <p:cNvSpPr/>
          <p:nvPr/>
        </p:nvSpPr>
        <p:spPr>
          <a:xfrm>
            <a:off x="8077439" y="1237828"/>
            <a:ext cx="3310360" cy="5324354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9E5BF9-206E-D86C-B15D-25BFCB367874}"/>
              </a:ext>
            </a:extLst>
          </p:cNvPr>
          <p:cNvSpPr/>
          <p:nvPr/>
        </p:nvSpPr>
        <p:spPr>
          <a:xfrm>
            <a:off x="4386515" y="1237828"/>
            <a:ext cx="3310360" cy="5324354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E4181C-1982-5FFA-D164-9AE5D9E5E176}"/>
              </a:ext>
            </a:extLst>
          </p:cNvPr>
          <p:cNvSpPr/>
          <p:nvPr/>
        </p:nvSpPr>
        <p:spPr>
          <a:xfrm>
            <a:off x="595854" y="1237828"/>
            <a:ext cx="3310360" cy="5324354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B5705-1983-AFAD-49B8-E8DB35CF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0467" y="-16660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Importance of Expiry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C9A1-9AB8-C4CB-AE97-7DB67D2B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36" y="1724336"/>
            <a:ext cx="307259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Risks of Consuming Expired Products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1800" b="1" dirty="0">
                <a:latin typeface="Candara" panose="020E0502030303020204" pitchFamily="34" charset="0"/>
              </a:rPr>
              <a:t>Consuming expired products can pose serious health risks, including medication ineffectiveness and potential toxicity, underscoring the urgent need for effective expiry tracking solutions like </a:t>
            </a:r>
            <a:r>
              <a:rPr lang="en-US" sz="1800" b="1" dirty="0" err="1">
                <a:latin typeface="Candara" panose="020E0502030303020204" pitchFamily="34" charset="0"/>
              </a:rPr>
              <a:t>ShelfScan</a:t>
            </a:r>
            <a:r>
              <a:rPr lang="en-US" sz="1800" b="1" dirty="0">
                <a:latin typeface="Candara" panose="020E0502030303020204" pitchFamily="34" charset="0"/>
              </a:rPr>
              <a:t>.</a:t>
            </a:r>
            <a:endParaRPr lang="en-IN" sz="1800" b="1" dirty="0">
              <a:latin typeface="Candara" panose="020E05020303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2AD4D-5F48-B1E3-5DAC-917E21F975F4}"/>
              </a:ext>
            </a:extLst>
          </p:cNvPr>
          <p:cNvSpPr txBox="1"/>
          <p:nvPr/>
        </p:nvSpPr>
        <p:spPr>
          <a:xfrm>
            <a:off x="4548561" y="1720840"/>
            <a:ext cx="28989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Impacts on Health and Safety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b="1" dirty="0"/>
          </a:p>
          <a:p>
            <a:pPr algn="ctr"/>
            <a:r>
              <a:rPr lang="en-US" b="1" dirty="0">
                <a:latin typeface="Candara" panose="020E0502030303020204" pitchFamily="34" charset="0"/>
              </a:rPr>
              <a:t>Effective expiry tracking through </a:t>
            </a:r>
            <a:r>
              <a:rPr lang="en-US" b="1" dirty="0" err="1">
                <a:latin typeface="Candara" panose="020E0502030303020204" pitchFamily="34" charset="0"/>
              </a:rPr>
              <a:t>ShelfScan</a:t>
            </a:r>
            <a:r>
              <a:rPr lang="en-US" b="1" dirty="0">
                <a:latin typeface="Candara" panose="020E0502030303020204" pitchFamily="34" charset="0"/>
              </a:rPr>
              <a:t> ensures safer medication use, reducing health risks and enhancing patient safety, fostering a healthier future for individuals and communities.</a:t>
            </a:r>
            <a:endParaRPr lang="en-IN" b="1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CF839-C3AC-99AD-A519-A979688FC7AF}"/>
              </a:ext>
            </a:extLst>
          </p:cNvPr>
          <p:cNvSpPr txBox="1"/>
          <p:nvPr/>
        </p:nvSpPr>
        <p:spPr>
          <a:xfrm>
            <a:off x="8283131" y="1720840"/>
            <a:ext cx="2898976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Financial Implications of Waste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>
                <a:latin typeface="Candara" panose="020E0502030303020204" pitchFamily="34" charset="0"/>
              </a:rPr>
              <a:t>Effective expiry tracking minimizes waste, enhances financial efficiency, and promotes responsible medication management, empowering users to save costs while ensuring health and safety.</a:t>
            </a:r>
            <a:endParaRPr lang="en-IN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8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C01A-488A-9E31-DD96-3ADE92E9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 descr="Shelves of shelves with medicine and other products&#10;&#10;AI-generated content may be incorrect.">
            <a:extLst>
              <a:ext uri="{FF2B5EF4-FFF2-40B4-BE49-F238E27FC236}">
                <a16:creationId xmlns:a16="http://schemas.microsoft.com/office/drawing/2014/main" id="{7D4D67D9-06E8-D967-D725-5484B9135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777BD2A9-D35E-FD2E-7E0B-27D05EC9FE67}"/>
              </a:ext>
            </a:extLst>
          </p:cNvPr>
          <p:cNvSpPr/>
          <p:nvPr/>
        </p:nvSpPr>
        <p:spPr>
          <a:xfrm rot="19341454">
            <a:off x="2123122" y="1575648"/>
            <a:ext cx="11286588" cy="7737670"/>
          </a:xfrm>
          <a:prstGeom prst="flowChartManualInput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CC4FF2-9791-5B01-6924-2C6053C84BCF}"/>
              </a:ext>
            </a:extLst>
          </p:cNvPr>
          <p:cNvSpPr txBox="1">
            <a:spLocks/>
          </p:cNvSpPr>
          <p:nvPr/>
        </p:nvSpPr>
        <p:spPr>
          <a:xfrm>
            <a:off x="2758439" y="3708029"/>
            <a:ext cx="90884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600" b="1" dirty="0">
                <a:solidFill>
                  <a:schemeClr val="bg1"/>
                </a:solidFill>
                <a:latin typeface="Candara" panose="020E0502030303020204" pitchFamily="34" charset="0"/>
              </a:rPr>
              <a:t>02 </a:t>
            </a:r>
          </a:p>
          <a:p>
            <a:pPr algn="r"/>
            <a:r>
              <a:rPr lang="en-US" sz="6600" b="1" dirty="0">
                <a:solidFill>
                  <a:schemeClr val="bg1"/>
                </a:solidFill>
                <a:latin typeface="Candara" panose="020E0502030303020204" pitchFamily="34" charset="0"/>
              </a:rPr>
              <a:t> Core Features of </a:t>
            </a:r>
            <a:r>
              <a:rPr lang="en-US" sz="66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ShelfScan</a:t>
            </a:r>
            <a:endParaRPr lang="en-IN" sz="66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2C480-6F8A-5BEB-2DAF-08989F3AFED4}"/>
              </a:ext>
            </a:extLst>
          </p:cNvPr>
          <p:cNvSpPr txBox="1"/>
          <p:nvPr/>
        </p:nvSpPr>
        <p:spPr>
          <a:xfrm>
            <a:off x="7370360" y="6224934"/>
            <a:ext cx="723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Innovative Solutions for </a:t>
            </a:r>
            <a:r>
              <a:rPr lang="en-US" sz="18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Heathcare</a:t>
            </a:r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 Efficiency</a:t>
            </a:r>
            <a:endParaRPr lang="en-IN" sz="1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73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D262-A2B0-1F6D-94C6-8E59B057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8" y="24518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QR/Barcode Scanning</a:t>
            </a:r>
          </a:p>
        </p:txBody>
      </p:sp>
      <p:pic>
        <p:nvPicPr>
          <p:cNvPr id="10" name="Content Placeholder 9" descr="Bookmark with solid fill">
            <a:extLst>
              <a:ext uri="{FF2B5EF4-FFF2-40B4-BE49-F238E27FC236}">
                <a16:creationId xmlns:a16="http://schemas.microsoft.com/office/drawing/2014/main" id="{8446491F-CADC-C868-E8F5-4D786B6B9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402080"/>
            <a:ext cx="529592" cy="30709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9C2D3C-CA79-139B-CC04-F33F50AC3FFF}"/>
              </a:ext>
            </a:extLst>
          </p:cNvPr>
          <p:cNvSpPr txBox="1"/>
          <p:nvPr/>
        </p:nvSpPr>
        <p:spPr>
          <a:xfrm>
            <a:off x="742952" y="1305341"/>
            <a:ext cx="3886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Automatic Data Entry</a:t>
            </a:r>
          </a:p>
          <a:p>
            <a:r>
              <a:rPr lang="en-US" dirty="0">
                <a:latin typeface="Candara" panose="020E0502030303020204" pitchFamily="34" charset="0"/>
              </a:rPr>
              <a:t>Experience the ease of automatic data entry with </a:t>
            </a:r>
            <a:r>
              <a:rPr lang="en-US" dirty="0" err="1">
                <a:latin typeface="Candara" panose="020E0502030303020204" pitchFamily="34" charset="0"/>
              </a:rPr>
              <a:t>ShelfScan</a:t>
            </a:r>
            <a:r>
              <a:rPr lang="en-US" dirty="0">
                <a:latin typeface="Candara" panose="020E0502030303020204" pitchFamily="34" charset="0"/>
              </a:rPr>
              <a:t>, streamlining medication management through quick QR/barcode scanning, ensuring accuracy and efficiency while reducing manual effort.</a:t>
            </a:r>
            <a:endParaRPr lang="en-IN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61D94-E657-A329-CE64-94967A1ECCBB}"/>
              </a:ext>
            </a:extLst>
          </p:cNvPr>
          <p:cNvSpPr txBox="1"/>
          <p:nvPr/>
        </p:nvSpPr>
        <p:spPr>
          <a:xfrm>
            <a:off x="739140" y="4367719"/>
            <a:ext cx="404241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Reducing Errors and Time Consumption</a:t>
            </a:r>
          </a:p>
          <a:p>
            <a:r>
              <a:rPr lang="en-US" dirty="0">
                <a:latin typeface="Candara" panose="020E0502030303020204" pitchFamily="34" charset="0"/>
              </a:rPr>
              <a:t>By integrating QR/barcode scanning, </a:t>
            </a:r>
            <a:r>
              <a:rPr lang="en-US" dirty="0" err="1">
                <a:latin typeface="Candara" panose="020E0502030303020204" pitchFamily="34" charset="0"/>
              </a:rPr>
              <a:t>ShelfScan</a:t>
            </a:r>
            <a:r>
              <a:rPr lang="en-US" dirty="0">
                <a:latin typeface="Candara" panose="020E0502030303020204" pitchFamily="34" charset="0"/>
              </a:rPr>
              <a:t> significantly reduces human errors and streamlines processes, saving valuable time and empowering users to focus on what truly matters—health and well-being.</a:t>
            </a:r>
            <a:endParaRPr lang="en-IN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CACFD-25B7-B682-5BB6-07E11CC51115}"/>
              </a:ext>
            </a:extLst>
          </p:cNvPr>
          <p:cNvSpPr txBox="1"/>
          <p:nvPr/>
        </p:nvSpPr>
        <p:spPr>
          <a:xfrm>
            <a:off x="4751071" y="3029952"/>
            <a:ext cx="39814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Enhancing User Experience</a:t>
            </a:r>
          </a:p>
          <a:p>
            <a:pPr algn="just"/>
            <a:r>
              <a:rPr lang="en-US" dirty="0" err="1">
                <a:latin typeface="Candara" panose="020E0502030303020204" pitchFamily="34" charset="0"/>
              </a:rPr>
              <a:t>ShelfScan's</a:t>
            </a:r>
            <a:r>
              <a:rPr lang="en-US" dirty="0">
                <a:latin typeface="Candara" panose="020E0502030303020204" pitchFamily="34" charset="0"/>
              </a:rPr>
              <a:t> QR/Barcode scanning simplifies expiry tracking, empowering users with instant access to vital medication information, ensuring safety and peace of mind in every interaction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7A24A72-CFA9-84FA-1106-3739EE431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8FDF27-4D72-41A9-DA8B-5135C528E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2" y="0"/>
            <a:ext cx="3459478" cy="6858000"/>
          </a:xfrm>
          <a:prstGeom prst="rect">
            <a:avLst/>
          </a:prstGeom>
        </p:spPr>
      </p:pic>
      <p:pic>
        <p:nvPicPr>
          <p:cNvPr id="11" name="Content Placeholder 9" descr="Bookmark with solid fill">
            <a:extLst>
              <a:ext uri="{FF2B5EF4-FFF2-40B4-BE49-F238E27FC236}">
                <a16:creationId xmlns:a16="http://schemas.microsoft.com/office/drawing/2014/main" id="{DB623C76-622C-A87B-C881-317255358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4356" y="3133950"/>
            <a:ext cx="529592" cy="307097"/>
          </a:xfrm>
          <a:prstGeom prst="rect">
            <a:avLst/>
          </a:prstGeom>
        </p:spPr>
      </p:pic>
      <p:pic>
        <p:nvPicPr>
          <p:cNvPr id="12" name="Content Placeholder 9" descr="Bookmark with solid fill">
            <a:extLst>
              <a:ext uri="{FF2B5EF4-FFF2-40B4-BE49-F238E27FC236}">
                <a16:creationId xmlns:a16="http://schemas.microsoft.com/office/drawing/2014/main" id="{F49844F6-09E4-F811-85E3-420C12E3D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440" y="4500880"/>
            <a:ext cx="529592" cy="30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5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C0513A-C4D0-56D2-0E0C-1879080C83E6}"/>
              </a:ext>
            </a:extLst>
          </p:cNvPr>
          <p:cNvSpPr/>
          <p:nvPr/>
        </p:nvSpPr>
        <p:spPr>
          <a:xfrm>
            <a:off x="8289830" y="1325563"/>
            <a:ext cx="3520616" cy="515626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3E1D4-DD85-837A-BF01-17689A74D92C}"/>
              </a:ext>
            </a:extLst>
          </p:cNvPr>
          <p:cNvSpPr/>
          <p:nvPr/>
        </p:nvSpPr>
        <p:spPr>
          <a:xfrm>
            <a:off x="4385358" y="1325563"/>
            <a:ext cx="3421285" cy="515626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4B35E9-D880-A3CE-050A-35BE04724DF9}"/>
              </a:ext>
            </a:extLst>
          </p:cNvPr>
          <p:cNvSpPr/>
          <p:nvPr/>
        </p:nvSpPr>
        <p:spPr>
          <a:xfrm>
            <a:off x="364312" y="1325563"/>
            <a:ext cx="3421285" cy="5156260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56068-F021-6E5F-3392-3517D249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25314" cy="132556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Advanced Medicine Reminder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9201-5249-FECD-950C-1590739B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8280" y="1704976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38D87-9690-EA29-24C9-87741137F76E}"/>
              </a:ext>
            </a:extLst>
          </p:cNvPr>
          <p:cNvSpPr txBox="1"/>
          <p:nvPr/>
        </p:nvSpPr>
        <p:spPr>
          <a:xfrm>
            <a:off x="509529" y="3244946"/>
            <a:ext cx="334026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b="1" dirty="0"/>
              <a:t>Dose -Time Notifications</a:t>
            </a:r>
          </a:p>
          <a:p>
            <a:r>
              <a:rPr lang="en-US" dirty="0"/>
              <a:t>Experience timely and personalized Dose-Time Notifications that empower you to manage your medications with confidence, ensuring your health journey is seamless and worry-free.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51B12-37AD-A5C0-67E3-D5B3AB064F56}"/>
              </a:ext>
            </a:extLst>
          </p:cNvPr>
          <p:cNvSpPr txBox="1"/>
          <p:nvPr/>
        </p:nvSpPr>
        <p:spPr>
          <a:xfrm>
            <a:off x="4614968" y="3486385"/>
            <a:ext cx="292608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Refill Alerts</a:t>
            </a:r>
          </a:p>
          <a:p>
            <a:r>
              <a:rPr lang="en-US" dirty="0"/>
              <a:t>Elevate your medication management with </a:t>
            </a:r>
            <a:r>
              <a:rPr lang="en-US" dirty="0" err="1"/>
              <a:t>ShelfScan’s</a:t>
            </a:r>
            <a:r>
              <a:rPr lang="en-US" dirty="0"/>
              <a:t> Refill Alerts, ensuring timely reminders that empower you to stay on track and enhance your well-being effortlessly.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E19E0-7CB0-C9B1-8B76-9CA01B8FFB32}"/>
              </a:ext>
            </a:extLst>
          </p:cNvPr>
          <p:cNvSpPr txBox="1"/>
          <p:nvPr/>
        </p:nvSpPr>
        <p:spPr>
          <a:xfrm>
            <a:off x="8406404" y="3429000"/>
            <a:ext cx="360594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Expiry Warnings for Medication</a:t>
            </a:r>
          </a:p>
          <a:p>
            <a:r>
              <a:rPr lang="en-US" dirty="0" err="1"/>
              <a:t>ShelfScan</a:t>
            </a:r>
            <a:r>
              <a:rPr lang="en-US" dirty="0"/>
              <a:t> empowers users with proactive expiry alerts, transforming medication management into a seamless experience that enhances health and wellness for all. Embrace the future of smart reminders!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2FDA31-16DE-6FF4-2800-E6003D92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76" y="1507421"/>
            <a:ext cx="2748337" cy="1602561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20987DAA-2548-4FCE-A481-1606E5934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0A84FF-EC25-63E8-46A4-670E7841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361" y="1540094"/>
            <a:ext cx="2811295" cy="15698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C993B1-084F-0EBF-1922-08B9D0B12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91" y="1540094"/>
            <a:ext cx="2991786" cy="147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9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553418-F5AF-71E2-B7D5-C16646A3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42" y="0"/>
            <a:ext cx="6900486" cy="6858000"/>
          </a:xfrm>
          <a:prstGeom prst="rect">
            <a:avLst/>
          </a:prstGeom>
        </p:spPr>
      </p:pic>
      <p:sp>
        <p:nvSpPr>
          <p:cNvPr id="10" name="Flowchart: Manual Input 9">
            <a:extLst>
              <a:ext uri="{FF2B5EF4-FFF2-40B4-BE49-F238E27FC236}">
                <a16:creationId xmlns:a16="http://schemas.microsoft.com/office/drawing/2014/main" id="{386FC540-7FB6-4171-D432-71F1A5EEE69C}"/>
              </a:ext>
            </a:extLst>
          </p:cNvPr>
          <p:cNvSpPr/>
          <p:nvPr/>
        </p:nvSpPr>
        <p:spPr>
          <a:xfrm rot="13512771">
            <a:off x="2976229" y="-3707370"/>
            <a:ext cx="10441363" cy="7892707"/>
          </a:xfrm>
          <a:prstGeom prst="flowChartManualInput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Manual Input 6">
            <a:extLst>
              <a:ext uri="{FF2B5EF4-FFF2-40B4-BE49-F238E27FC236}">
                <a16:creationId xmlns:a16="http://schemas.microsoft.com/office/drawing/2014/main" id="{7D095AC8-C8C7-157A-14E3-7F6582649970}"/>
              </a:ext>
            </a:extLst>
          </p:cNvPr>
          <p:cNvSpPr/>
          <p:nvPr/>
        </p:nvSpPr>
        <p:spPr>
          <a:xfrm rot="19341454">
            <a:off x="2651055" y="2127231"/>
            <a:ext cx="10175259" cy="7737670"/>
          </a:xfrm>
          <a:prstGeom prst="flowChartManualInput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26ACC2-1A46-C98A-9722-C0D729E52D6D}"/>
              </a:ext>
            </a:extLst>
          </p:cNvPr>
          <p:cNvSpPr txBox="1">
            <a:spLocks/>
          </p:cNvSpPr>
          <p:nvPr/>
        </p:nvSpPr>
        <p:spPr>
          <a:xfrm>
            <a:off x="2822837" y="3921945"/>
            <a:ext cx="9095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400" b="1" dirty="0">
                <a:solidFill>
                  <a:schemeClr val="bg1"/>
                </a:solidFill>
                <a:latin typeface="Candara" panose="020E0502030303020204" pitchFamily="34" charset="0"/>
              </a:rPr>
              <a:t>03</a:t>
            </a:r>
          </a:p>
          <a:p>
            <a:pPr algn="r"/>
            <a:r>
              <a:rPr lang="en-US" sz="5400" b="1" dirty="0">
                <a:solidFill>
                  <a:schemeClr val="bg1"/>
                </a:solidFill>
                <a:latin typeface="Candara" panose="020E0502030303020204" pitchFamily="34" charset="0"/>
              </a:rPr>
              <a:t>Dual-Purpose Tracking Capabilities</a:t>
            </a:r>
            <a:endParaRPr lang="en-IN" sz="54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3D142-B0D9-FBD7-1A11-FFFC452ED38A}"/>
              </a:ext>
            </a:extLst>
          </p:cNvPr>
          <p:cNvSpPr txBox="1"/>
          <p:nvPr/>
        </p:nvSpPr>
        <p:spPr>
          <a:xfrm>
            <a:off x="7370360" y="6224934"/>
            <a:ext cx="723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Innovative Solutions for </a:t>
            </a:r>
            <a:r>
              <a:rPr lang="en-US" sz="18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Heathcare</a:t>
            </a:r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 Efficiency</a:t>
            </a:r>
            <a:endParaRPr lang="en-IN" sz="1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Graphic 11" descr="Cheers outline">
            <a:extLst>
              <a:ext uri="{FF2B5EF4-FFF2-40B4-BE49-F238E27FC236}">
                <a16:creationId xmlns:a16="http://schemas.microsoft.com/office/drawing/2014/main" id="{AEBA74A5-F0FC-B388-5085-BFDF6D0C4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3" y="133641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0BA46F-A5C6-CBEC-A2EF-F85C1817DD5F}"/>
              </a:ext>
            </a:extLst>
          </p:cNvPr>
          <p:cNvSpPr txBox="1"/>
          <p:nvPr/>
        </p:nvSpPr>
        <p:spPr>
          <a:xfrm>
            <a:off x="10411522" y="221509"/>
            <a:ext cx="743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shelfscan</a:t>
            </a:r>
            <a:endParaRPr lang="en-IN" sz="1050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4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C8168-AA0A-FDF8-7CEF-D83C1C3BB757}"/>
              </a:ext>
            </a:extLst>
          </p:cNvPr>
          <p:cNvSpPr/>
          <p:nvPr/>
        </p:nvSpPr>
        <p:spPr>
          <a:xfrm>
            <a:off x="69670" y="4956618"/>
            <a:ext cx="6730022" cy="1726128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8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8BAC3E-C9E1-1861-F69E-9D872C702691}"/>
              </a:ext>
            </a:extLst>
          </p:cNvPr>
          <p:cNvSpPr/>
          <p:nvPr/>
        </p:nvSpPr>
        <p:spPr>
          <a:xfrm>
            <a:off x="69670" y="3016790"/>
            <a:ext cx="6730022" cy="172612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48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2096B4-CE55-3F33-ECCC-E51BE3F21165}"/>
              </a:ext>
            </a:extLst>
          </p:cNvPr>
          <p:cNvSpPr/>
          <p:nvPr/>
        </p:nvSpPr>
        <p:spPr>
          <a:xfrm>
            <a:off x="69670" y="1076962"/>
            <a:ext cx="6730022" cy="172612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48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8B241-7314-9199-EFC1-670F58BB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8"/>
            <a:ext cx="9768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Unified Dashboard for Medicines and Food</a:t>
            </a:r>
            <a:endParaRPr lang="en-IN" sz="4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1CFB1-8823-204D-3CDB-14FFDA5706D3}"/>
              </a:ext>
            </a:extLst>
          </p:cNvPr>
          <p:cNvSpPr txBox="1"/>
          <p:nvPr/>
        </p:nvSpPr>
        <p:spPr>
          <a:xfrm>
            <a:off x="145381" y="1201362"/>
            <a:ext cx="641604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Simplifying Household Management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Experience effortless management with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ShelfScan's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dual-purpose tracking, streamlining the monitoring of medicines and food for a healthier, happier household. Embrace simplicity and stay empowered</a:t>
            </a:r>
            <a:r>
              <a:rPr lang="en-US" dirty="0"/>
              <a:t>!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CFD8F-D180-FFBF-74F8-671D2913CF01}"/>
              </a:ext>
            </a:extLst>
          </p:cNvPr>
          <p:cNvSpPr txBox="1"/>
          <p:nvPr/>
        </p:nvSpPr>
        <p:spPr>
          <a:xfrm>
            <a:off x="174542" y="3125801"/>
            <a:ext cx="621621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Comparative Benefits for Users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Experience seamless management with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ShelfScan’s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dual-purpose tracking, empowering users to ensure medication safety and food freshness, ultimately promoting better health and well-being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124B9-D88D-BB4A-4C77-DD7CD5BFB43D}"/>
              </a:ext>
            </a:extLst>
          </p:cNvPr>
          <p:cNvSpPr txBox="1"/>
          <p:nvPr/>
        </p:nvSpPr>
        <p:spPr>
          <a:xfrm>
            <a:off x="264516" y="5042374"/>
            <a:ext cx="61777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Case Studies or User Testimonials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Users report increased confidence in managing expiration dates, leading to enhanced safety and efficiency in both medication and food usage, empowering healthier choices every day.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640A96F-9E13-3869-73F2-89FE4B6C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98AA9-5C6E-5445-D582-A79A0C8CA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132" y="2064425"/>
            <a:ext cx="574935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5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39000">
              <a:schemeClr val="accent4">
                <a:lumMod val="5000"/>
                <a:lumOff val="95000"/>
              </a:schemeClr>
            </a:gs>
            <a:gs pos="60000">
              <a:schemeClr val="bg1"/>
            </a:gs>
            <a:gs pos="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7FC692-E24A-3447-6B91-2BCA6A84698E}"/>
              </a:ext>
            </a:extLst>
          </p:cNvPr>
          <p:cNvSpPr/>
          <p:nvPr/>
        </p:nvSpPr>
        <p:spPr>
          <a:xfrm>
            <a:off x="1943968" y="4931962"/>
            <a:ext cx="8183880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22C66C-55AB-B5F3-DA9B-01AF05E26FA8}"/>
              </a:ext>
            </a:extLst>
          </p:cNvPr>
          <p:cNvSpPr/>
          <p:nvPr/>
        </p:nvSpPr>
        <p:spPr>
          <a:xfrm>
            <a:off x="1943968" y="3100356"/>
            <a:ext cx="8183880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C07855-FB4D-068E-22D9-181CEE438E03}"/>
              </a:ext>
            </a:extLst>
          </p:cNvPr>
          <p:cNvSpPr/>
          <p:nvPr/>
        </p:nvSpPr>
        <p:spPr>
          <a:xfrm>
            <a:off x="1943968" y="1281708"/>
            <a:ext cx="8183880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64F0B-59C6-C1C7-9FCC-C5B22958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4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Collaborating with Caregivers and Family</a:t>
            </a: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134D8-3EF5-1928-67B7-87D0E99FFFBD}"/>
              </a:ext>
            </a:extLst>
          </p:cNvPr>
          <p:cNvSpPr txBox="1"/>
          <p:nvPr/>
        </p:nvSpPr>
        <p:spPr>
          <a:xfrm>
            <a:off x="2434397" y="1281708"/>
            <a:ext cx="67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Multi-Device Synchronization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Experience seamless multi-device synchronization with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ShelfScan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empowering caregivers and families to effortlessly track medication expiry and manage health together, enhancing collaboration and peace of mind.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12193-5129-6DD7-DF71-737297B7EF56}"/>
              </a:ext>
            </a:extLst>
          </p:cNvPr>
          <p:cNvSpPr txBox="1"/>
          <p:nvPr/>
        </p:nvSpPr>
        <p:spPr>
          <a:xfrm>
            <a:off x="2434397" y="3158824"/>
            <a:ext cx="7091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Shared Access Features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Shared access features empower caregivers and family members to collaboratively monitor medication expiry, fostering a supportive environment that enhances health management and strengthens relationships.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DB394-720A-F4B8-8C49-A4D436B98541}"/>
              </a:ext>
            </a:extLst>
          </p:cNvPr>
          <p:cNvSpPr txBox="1"/>
          <p:nvPr/>
        </p:nvSpPr>
        <p:spPr>
          <a:xfrm>
            <a:off x="2411970" y="4990430"/>
            <a:ext cx="7836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Enhancing Communication and Coordination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Enhancing communication and coordination through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ShelfScan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empowers caregivers and families to collaboratively manage medications, ensuring timely interventions and fostering a supportive network for optimal health outcomes.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8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9ADA-E61D-819A-4A66-8F4B5BE9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 descr="A group of colorful squares with icons&#10;&#10;AI-generated content may be incorrect.">
            <a:extLst>
              <a:ext uri="{FF2B5EF4-FFF2-40B4-BE49-F238E27FC236}">
                <a16:creationId xmlns:a16="http://schemas.microsoft.com/office/drawing/2014/main" id="{C0A4B399-9061-CF03-A25B-0B896099F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514"/>
            <a:ext cx="14649077" cy="6969027"/>
          </a:xfrm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B25CDFF1-B68E-66F7-4950-32AA908260B7}"/>
              </a:ext>
            </a:extLst>
          </p:cNvPr>
          <p:cNvSpPr/>
          <p:nvPr/>
        </p:nvSpPr>
        <p:spPr>
          <a:xfrm rot="10800000">
            <a:off x="6896122" y="-52600"/>
            <a:ext cx="9174480" cy="6858000"/>
          </a:xfrm>
          <a:prstGeom prst="rtTriangle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0A92D285-B0A3-17ED-7779-D8302B196451}"/>
              </a:ext>
            </a:extLst>
          </p:cNvPr>
          <p:cNvSpPr/>
          <p:nvPr/>
        </p:nvSpPr>
        <p:spPr>
          <a:xfrm rot="8148143">
            <a:off x="5028383" y="2782136"/>
            <a:ext cx="9174480" cy="8881978"/>
          </a:xfrm>
          <a:prstGeom prst="rtTriangle">
            <a:avLst/>
          </a:prstGeom>
          <a:solidFill>
            <a:srgbClr val="2E8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49C108-EBC0-FC8A-A442-6FB8A3BB7270}"/>
              </a:ext>
            </a:extLst>
          </p:cNvPr>
          <p:cNvSpPr txBox="1">
            <a:spLocks/>
          </p:cNvSpPr>
          <p:nvPr/>
        </p:nvSpPr>
        <p:spPr>
          <a:xfrm>
            <a:off x="2777015" y="4545717"/>
            <a:ext cx="9095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b="1" dirty="0">
                <a:solidFill>
                  <a:schemeClr val="bg1"/>
                </a:solidFill>
                <a:latin typeface="Candara" panose="020E0502030303020204" pitchFamily="34" charset="0"/>
              </a:rPr>
              <a:t>04</a:t>
            </a: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Candara" panose="020E0502030303020204" pitchFamily="34" charset="0"/>
              </a:rPr>
              <a:t>Safety and Waste</a:t>
            </a: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Candara" panose="020E0502030303020204" pitchFamily="34" charset="0"/>
              </a:rPr>
              <a:t> Reduction Features</a:t>
            </a:r>
            <a:endParaRPr lang="en-IN" sz="36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DA570-1F08-7D2E-73F5-4E65ACCA45CE}"/>
              </a:ext>
            </a:extLst>
          </p:cNvPr>
          <p:cNvSpPr txBox="1"/>
          <p:nvPr/>
        </p:nvSpPr>
        <p:spPr>
          <a:xfrm>
            <a:off x="7324538" y="6449745"/>
            <a:ext cx="723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Innovative Solutions for </a:t>
            </a:r>
            <a:r>
              <a:rPr lang="en-US" sz="18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Heathcare</a:t>
            </a:r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 Efficiency</a:t>
            </a:r>
            <a:endParaRPr lang="en-IN" sz="1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Graphic 9" descr="Cheers outline">
            <a:extLst>
              <a:ext uri="{FF2B5EF4-FFF2-40B4-BE49-F238E27FC236}">
                <a16:creationId xmlns:a16="http://schemas.microsoft.com/office/drawing/2014/main" id="{F3221027-BC4D-0C5F-5048-4A67090AF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6162" y="177027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2073B2-2D57-0786-C613-2753CE89025F}"/>
              </a:ext>
            </a:extLst>
          </p:cNvPr>
          <p:cNvSpPr txBox="1"/>
          <p:nvPr/>
        </p:nvSpPr>
        <p:spPr>
          <a:xfrm>
            <a:off x="10162646" y="291485"/>
            <a:ext cx="800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shelfscan</a:t>
            </a:r>
            <a:endParaRPr lang="en-IN" sz="1050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2898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8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EB78-405E-5D7A-8F73-D3FAA0B6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05" y="-21285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Safety-First Alerts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FB5EE-ED9B-48E6-5237-64189B972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828" y="3575997"/>
            <a:ext cx="3062847" cy="1433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7FDBD-DEE0-F1B7-E12F-ED03E5EC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871" y="4125201"/>
            <a:ext cx="2087614" cy="263288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D5B8348-7F7B-DB9E-73C8-668DEA714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3BC60-94D9-C9B7-E39F-A3AF17CF3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021" y="4125202"/>
            <a:ext cx="2087614" cy="2632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DA6784-FF2D-3A10-23D2-8480130FD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7434" y="5260034"/>
            <a:ext cx="371475" cy="371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8A5AD6-1F5A-004A-BB34-657D062EA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276" y="3930548"/>
            <a:ext cx="361950" cy="361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A000CC-1360-57D1-61D5-84BD302D2E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147" y="5279084"/>
            <a:ext cx="352425" cy="35242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27A6CD6-E351-CEBD-CBC5-E03F3DD69896}"/>
              </a:ext>
            </a:extLst>
          </p:cNvPr>
          <p:cNvSpPr/>
          <p:nvPr/>
        </p:nvSpPr>
        <p:spPr>
          <a:xfrm>
            <a:off x="5710993" y="5631509"/>
            <a:ext cx="1112520" cy="1027331"/>
          </a:xfrm>
          <a:prstGeom prst="ellipse">
            <a:avLst/>
          </a:prstGeom>
          <a:solidFill>
            <a:srgbClr val="ABD1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9D915E-D482-E195-53D4-3546A39C6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701" y="5935624"/>
            <a:ext cx="419100" cy="419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97C657-E012-BEF7-03E8-902923D80F60}"/>
              </a:ext>
            </a:extLst>
          </p:cNvPr>
          <p:cNvSpPr txBox="1"/>
          <p:nvPr/>
        </p:nvSpPr>
        <p:spPr>
          <a:xfrm>
            <a:off x="-71403" y="2415061"/>
            <a:ext cx="410507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Color-Coded Expiry Notifications</a:t>
            </a: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sz="1600" dirty="0"/>
              <a:t>Color-coded expiry notifications empower users to effortlessly identify critical dates, enhance medication safety, and promote responsible management, ensuring health and well-being for everyone.</a:t>
            </a:r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4C087-562F-C6D4-3CF1-A600CA235214}"/>
              </a:ext>
            </a:extLst>
          </p:cNvPr>
          <p:cNvSpPr txBox="1"/>
          <p:nvPr/>
        </p:nvSpPr>
        <p:spPr>
          <a:xfrm>
            <a:off x="3594278" y="1473557"/>
            <a:ext cx="50068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Disposal Reminders for Expired Products</a:t>
            </a: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sz="1600" dirty="0"/>
              <a:t>Stay proactive with </a:t>
            </a:r>
            <a:r>
              <a:rPr lang="en-US" sz="1600" dirty="0" err="1"/>
              <a:t>ShelfScan's</a:t>
            </a:r>
            <a:r>
              <a:rPr lang="en-US" sz="1600" dirty="0"/>
              <a:t> disposal reminders, ensuring expired products are safely discarded, promoting health, sustainability, and peace of mind in your medication management journey.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5C302-1383-9E32-4AC4-6D2F34EAB843}"/>
              </a:ext>
            </a:extLst>
          </p:cNvPr>
          <p:cNvSpPr txBox="1"/>
          <p:nvPr/>
        </p:nvSpPr>
        <p:spPr>
          <a:xfrm>
            <a:off x="8158329" y="2846065"/>
            <a:ext cx="39943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Preventing Accidental Ingestion</a:t>
            </a:r>
          </a:p>
          <a:p>
            <a:pPr algn="ctr"/>
            <a:r>
              <a:rPr lang="en-US" sz="1600" dirty="0"/>
              <a:t>Empowering users with proactive alerts, </a:t>
            </a:r>
            <a:r>
              <a:rPr lang="en-US" sz="1600" dirty="0" err="1"/>
              <a:t>ShelfScan</a:t>
            </a:r>
            <a:r>
              <a:rPr lang="en-US" sz="1600" dirty="0"/>
              <a:t> ensures safe medication practices, preventing accidental ingestion and fostering confidence in managing health and well-being.</a:t>
            </a:r>
            <a:endParaRPr lang="en-IN" sz="1600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2A6A2F84-C181-F7DD-96DF-38F6A8A0B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234AE4-7A8B-935A-D9C2-C5ECB351F360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6823513" y="5935624"/>
            <a:ext cx="803207" cy="209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E59296-DED8-F895-0285-E74AC436BB94}"/>
              </a:ext>
            </a:extLst>
          </p:cNvPr>
          <p:cNvCxnSpPr>
            <a:cxnSpLocks/>
            <a:stCxn id="13" idx="2"/>
          </p:cNvCxnSpPr>
          <p:nvPr/>
        </p:nvCxnSpPr>
        <p:spPr>
          <a:xfrm flipH="1" flipV="1">
            <a:off x="4750545" y="5935624"/>
            <a:ext cx="960448" cy="209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29B5C4-32BB-A2D6-F738-D0226B051C18}"/>
              </a:ext>
            </a:extLst>
          </p:cNvPr>
          <p:cNvCxnSpPr>
            <a:stCxn id="13" idx="0"/>
            <a:endCxn id="4" idx="2"/>
          </p:cNvCxnSpPr>
          <p:nvPr/>
        </p:nvCxnSpPr>
        <p:spPr>
          <a:xfrm flipH="1" flipV="1">
            <a:off x="6267252" y="5009000"/>
            <a:ext cx="1" cy="622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53FE7F5-929C-9F3D-F547-ED91288B5938}"/>
              </a:ext>
            </a:extLst>
          </p:cNvPr>
          <p:cNvSpPr/>
          <p:nvPr/>
        </p:nvSpPr>
        <p:spPr>
          <a:xfrm>
            <a:off x="4204029" y="5547052"/>
            <a:ext cx="548640" cy="548640"/>
          </a:xfrm>
          <a:prstGeom prst="ellipse">
            <a:avLst/>
          </a:prstGeom>
          <a:solidFill>
            <a:srgbClr val="ECF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0D5AB5A-384B-F4ED-F77F-0AEA3A8EAF72}"/>
              </a:ext>
            </a:extLst>
          </p:cNvPr>
          <p:cNvSpPr/>
          <p:nvPr/>
        </p:nvSpPr>
        <p:spPr>
          <a:xfrm>
            <a:off x="5999602" y="4544291"/>
            <a:ext cx="548640" cy="548640"/>
          </a:xfrm>
          <a:prstGeom prst="ellipse">
            <a:avLst/>
          </a:prstGeom>
          <a:solidFill>
            <a:srgbClr val="ABD1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19A703-07CF-B338-2E98-4182C571438B}"/>
              </a:ext>
            </a:extLst>
          </p:cNvPr>
          <p:cNvSpPr/>
          <p:nvPr/>
        </p:nvSpPr>
        <p:spPr>
          <a:xfrm>
            <a:off x="7609689" y="5547052"/>
            <a:ext cx="548640" cy="548640"/>
          </a:xfrm>
          <a:prstGeom prst="ellipse">
            <a:avLst/>
          </a:prstGeom>
          <a:solidFill>
            <a:srgbClr val="ECF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833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accent3">
                <a:lumMod val="20000"/>
                <a:lumOff val="80000"/>
              </a:schemeClr>
            </a:gs>
            <a:gs pos="93000">
              <a:schemeClr val="bg1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BDDF23-9983-0E97-2A2E-E8EEF48C8405}"/>
              </a:ext>
            </a:extLst>
          </p:cNvPr>
          <p:cNvSpPr/>
          <p:nvPr/>
        </p:nvSpPr>
        <p:spPr>
          <a:xfrm>
            <a:off x="138317" y="4917980"/>
            <a:ext cx="7697744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557426-C144-D854-BA7C-F4807DDAF6BD}"/>
              </a:ext>
            </a:extLst>
          </p:cNvPr>
          <p:cNvSpPr/>
          <p:nvPr/>
        </p:nvSpPr>
        <p:spPr>
          <a:xfrm>
            <a:off x="138317" y="3106952"/>
            <a:ext cx="7697744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2D5D92-467F-827E-4974-F04DC2B5FA2A}"/>
              </a:ext>
            </a:extLst>
          </p:cNvPr>
          <p:cNvSpPr/>
          <p:nvPr/>
        </p:nvSpPr>
        <p:spPr>
          <a:xfrm>
            <a:off x="138317" y="1327907"/>
            <a:ext cx="7697744" cy="159426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6E10F-65E4-B663-6DD4-7B7D8D1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27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Economic and Environmental Benefits</a:t>
            </a:r>
          </a:p>
        </p:txBody>
      </p:sp>
      <p:pic>
        <p:nvPicPr>
          <p:cNvPr id="14" name="Content Placeholder 13" descr="A diagram of a diagram of the environment&#10;&#10;AI-generated content may be incorrect.">
            <a:extLst>
              <a:ext uri="{FF2B5EF4-FFF2-40B4-BE49-F238E27FC236}">
                <a16:creationId xmlns:a16="http://schemas.microsoft.com/office/drawing/2014/main" id="{57925349-2E78-FDD7-D13B-649DAB15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564" y="2330585"/>
            <a:ext cx="3845436" cy="293865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9DFE14-8F17-1C42-2BC2-DC89707F94F9}"/>
              </a:ext>
            </a:extLst>
          </p:cNvPr>
          <p:cNvSpPr txBox="1"/>
          <p:nvPr/>
        </p:nvSpPr>
        <p:spPr>
          <a:xfrm>
            <a:off x="329010" y="1477324"/>
            <a:ext cx="702641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Saving Money through Timely Alerts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Timely alerts from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ShelfScan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empower users to minimize waste, ensuring both economic savings and a reduced environmental impact, fostering responsible consumption for a sustainable future.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5ED92-E86A-9A73-5360-5A42D769BDBB}"/>
              </a:ext>
            </a:extLst>
          </p:cNvPr>
          <p:cNvSpPr txBox="1"/>
          <p:nvPr/>
        </p:nvSpPr>
        <p:spPr>
          <a:xfrm>
            <a:off x="308270" y="3298488"/>
            <a:ext cx="75277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Reducing Food and Medication Waste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By minimizing food and medication waste,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ShelfScan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fosters sustainability, inspires responsible consumption, and empowers individuals to make a positive impact on both their health and the environment.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92289-C141-9557-047B-E36C71850B45}"/>
              </a:ext>
            </a:extLst>
          </p:cNvPr>
          <p:cNvSpPr txBox="1"/>
          <p:nvPr/>
        </p:nvSpPr>
        <p:spPr>
          <a:xfrm>
            <a:off x="308270" y="5099559"/>
            <a:ext cx="72755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Supporting Sustainable Practices in Households</a:t>
            </a:r>
          </a:p>
          <a:p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ShelfScan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empowers households to reduce waste, promoting sustainable practices by tracking expiry dates efficiently, leading to conscious consumption and a greener lifestyle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244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C6E969D-533B-0D32-4CBE-DC442A81D3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2DiagRect">
            <a:avLst/>
          </a:prstGeom>
          <a:solidFill>
            <a:srgbClr val="2E8C62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b="1" dirty="0">
                <a:solidFill>
                  <a:schemeClr val="bg1"/>
                </a:solidFill>
                <a:latin typeface="Agency FB" panose="020B0503020202020204" pitchFamily="34" charset="0"/>
              </a:rPr>
              <a:t>Thank you</a:t>
            </a:r>
            <a:endParaRPr lang="en-IN" sz="138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1C1D3-161C-B2CC-649C-3822FF4C57AD}"/>
              </a:ext>
            </a:extLst>
          </p:cNvPr>
          <p:cNvSpPr txBox="1"/>
          <p:nvPr/>
        </p:nvSpPr>
        <p:spPr>
          <a:xfrm>
            <a:off x="3444240" y="4160520"/>
            <a:ext cx="373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 TEAM SHELFSCAN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Graphic 6" descr="Cheers outline">
            <a:extLst>
              <a:ext uri="{FF2B5EF4-FFF2-40B4-BE49-F238E27FC236}">
                <a16:creationId xmlns:a16="http://schemas.microsoft.com/office/drawing/2014/main" id="{6604879F-B544-E1AF-BDEC-80471AD4B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4680" y="42672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A3DB93-DDAF-D78D-B484-603B259D4F74}"/>
              </a:ext>
            </a:extLst>
          </p:cNvPr>
          <p:cNvSpPr txBox="1"/>
          <p:nvPr/>
        </p:nvSpPr>
        <p:spPr>
          <a:xfrm>
            <a:off x="10184130" y="514588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shelfscan</a:t>
            </a:r>
            <a:endParaRPr lang="en-IN" sz="1050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6173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867</Words>
  <Application>Microsoft Office PowerPoint</Application>
  <PresentationFormat>Widescreen</PresentationFormat>
  <Paragraphs>92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Agency FB</vt:lpstr>
      <vt:lpstr>Amasis MT Pro Light</vt:lpstr>
      <vt:lpstr>AngsanaUPC</vt:lpstr>
      <vt:lpstr>Aptos</vt:lpstr>
      <vt:lpstr>Aptos Display</vt:lpstr>
      <vt:lpstr>Arial</vt:lpstr>
      <vt:lpstr>Candara</vt:lpstr>
      <vt:lpstr>Office Theme</vt:lpstr>
      <vt:lpstr>ShelfScan: Revolutionizing  Expiry Tracking and  Medication  Management</vt:lpstr>
      <vt:lpstr>Contents</vt:lpstr>
      <vt:lpstr>Introduction to  ShelfScan</vt:lpstr>
      <vt:lpstr>Overview of ShelfScan</vt:lpstr>
      <vt:lpstr>Importance of Expiry Tracking</vt:lpstr>
      <vt:lpstr>PowerPoint Presentation</vt:lpstr>
      <vt:lpstr>QR/Barcode Scanning</vt:lpstr>
      <vt:lpstr>Advanced Medicine Reminder System</vt:lpstr>
      <vt:lpstr>PowerPoint Presentation</vt:lpstr>
      <vt:lpstr>Unified Dashboard for Medicines and Food</vt:lpstr>
      <vt:lpstr>Collaborating with Caregivers and Family</vt:lpstr>
      <vt:lpstr>PowerPoint Presentation</vt:lpstr>
      <vt:lpstr>Safety-First Alerts</vt:lpstr>
      <vt:lpstr>Economic and Environmental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JOSWIN JOSHY</dc:creator>
  <cp:lastModifiedBy>LAYEL K MANOJ</cp:lastModifiedBy>
  <cp:revision>1</cp:revision>
  <dcterms:created xsi:type="dcterms:W3CDTF">2025-07-31T14:51:31Z</dcterms:created>
  <dcterms:modified xsi:type="dcterms:W3CDTF">2026-03-25T09:25:45Z</dcterms:modified>
</cp:coreProperties>
</file>